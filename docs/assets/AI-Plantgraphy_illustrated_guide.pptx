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-plantgraphy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2A22"/>
                </a:solidFill>
                <a:latin typeface="Yu Gothic"/>
              </a:defRPr>
            </a:pPr>
            <a:r>
              <a:t>AI Plantgraphy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70432"/>
            <a:ext cx="6583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7D56"/>
                </a:solidFill>
                <a:latin typeface="Yu Gothic"/>
              </a:defRPr>
            </a:pPr>
            <a:r>
              <a:t>植物写真から、自分だけの図鑑を育てるWebアプリ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70408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D2A22"/>
                </a:solidFill>
                <a:latin typeface="Yu Gothic"/>
              </a:defRPr>
            </a:pPr>
            <a:r>
              <a:t>スマホで撮る</a:t>
            </a:r>
          </a:p>
          <a:p>
            <a:pPr>
              <a:spcAft>
                <a:spcPts val="800"/>
              </a:spcAft>
              <a:defRPr sz="1600">
                <a:solidFill>
                  <a:srgbClr val="0D2A22"/>
                </a:solidFill>
                <a:latin typeface="Yu Gothic"/>
              </a:defRPr>
            </a:pPr>
            <a:r>
              <a:t>自宅PCのGemini CLIで解析する</a:t>
            </a:r>
          </a:p>
          <a:p>
            <a:pPr>
              <a:spcAft>
                <a:spcPts val="800"/>
              </a:spcAft>
              <a:defRPr sz="1600">
                <a:solidFill>
                  <a:srgbClr val="0D2A22"/>
                </a:solidFill>
                <a:latin typeface="Yu Gothic"/>
              </a:defRPr>
            </a:pPr>
            <a:r>
              <a:t>写真・名前・観察履歴を植物ごとに整理する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56"/>
                </a:solidFill>
                <a:latin typeface="Yu Gothic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A22"/>
                </a:solidFill>
                <a:latin typeface="Yu Gothic"/>
              </a:defRPr>
            </a:pPr>
            <a:r>
              <a:t>何ができるツールか</a:t>
            </a:r>
          </a:p>
        </p:txBody>
      </p:sp>
      <p:pic>
        <p:nvPicPr>
          <p:cNvPr id="4" name="Picture 3" descr="ai-plantgraphy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56032"/>
            <a:ext cx="502920" cy="502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417320"/>
            <a:ext cx="30632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960120" cy="310896"/>
          </a:xfrm>
          <a:prstGeom prst="roundRect">
            <a:avLst/>
          </a:prstGeom>
          <a:solidFill>
            <a:srgbClr val="237D56"/>
          </a:solidFill>
          <a:ln>
            <a:solidFill>
              <a:srgbClr val="23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撮影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514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2A22"/>
                </a:solidFill>
                <a:latin typeface="Yu Gothic"/>
              </a:defRPr>
            </a:pPr>
            <a:r>
              <a:t>庭木・草花を1〜3枚で記録</a:t>
            </a:r>
            <a:br/>
            <a:r>
              <a:t>連続カメラ、通常カメラ、写真選択に対応</a:t>
            </a:r>
          </a:p>
        </p:txBody>
      </p:sp>
      <p:pic>
        <p:nvPicPr>
          <p:cNvPr id="8" name="Picture 7" descr="screenshot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749039"/>
            <a:ext cx="2468880" cy="403211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60520" y="1417320"/>
            <a:ext cx="30632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960120" cy="310896"/>
          </a:xfrm>
          <a:prstGeom prst="roundRect">
            <a:avLst/>
          </a:prstGeom>
          <a:solidFill>
            <a:srgbClr val="1B6FA3"/>
          </a:solidFill>
          <a:ln>
            <a:solidFill>
              <a:srgbClr val="1B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331720"/>
            <a:ext cx="2514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D2A22"/>
                </a:solidFill>
                <a:latin typeface="Yu Gothic"/>
              </a:defRPr>
            </a:pPr>
            <a:r>
              <a:t>Gemini CLIで種類を推定</a:t>
            </a:r>
            <a:br/>
            <a:r>
              <a:t>候補と信頼度、不確実な点も保存</a:t>
            </a:r>
          </a:p>
        </p:txBody>
      </p:sp>
      <p:pic>
        <p:nvPicPr>
          <p:cNvPr id="12" name="Picture 11" descr="screenshot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3749039"/>
            <a:ext cx="2468880" cy="402739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680960" y="1417320"/>
            <a:ext cx="30632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09560" y="1691640"/>
            <a:ext cx="960120" cy="310896"/>
          </a:xfrm>
          <a:prstGeom prst="roundRect">
            <a:avLst/>
          </a:prstGeom>
          <a:solidFill>
            <a:srgbClr val="F6BE55"/>
          </a:solidFill>
          <a:ln>
            <a:solidFill>
              <a:srgbClr val="F6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図鑑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2331720"/>
            <a:ext cx="2514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D2A22"/>
                </a:solidFill>
                <a:latin typeface="Yu Gothic"/>
              </a:defRPr>
            </a:pPr>
            <a:r>
              <a:t>同じ植物を自動でまとめる</a:t>
            </a:r>
            <a:br/>
            <a:r>
              <a:t>写真・特徴・手入れメモ・履歴を見返せる</a:t>
            </a:r>
          </a:p>
        </p:txBody>
      </p:sp>
      <p:pic>
        <p:nvPicPr>
          <p:cNvPr id="16" name="Picture 15" descr="screenshot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2" y="3749039"/>
            <a:ext cx="2468880" cy="4046773"/>
          </a:xfrm>
          <a:prstGeom prst="rect">
            <a:avLst/>
          </a:prstGeom>
        </p:spPr>
      </p:pic>
      <p:cxnSp>
        <p:nvCxnSpPr>
          <p:cNvPr id="17" name="Connector 16"/>
          <p:cNvCxnSpPr/>
          <p:nvPr/>
        </p:nvCxnSpPr>
        <p:spPr>
          <a:xfrm>
            <a:off x="3749039" y="3474720"/>
            <a:ext cx="320041" cy="0"/>
          </a:xfrm>
          <a:prstGeom prst="line">
            <a:avLst/>
          </a:prstGeom>
          <a:ln w="27940">
            <a:solidFill>
              <a:srgbClr val="237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69480" y="3474720"/>
            <a:ext cx="320040" cy="0"/>
          </a:xfrm>
          <a:prstGeom prst="line">
            <a:avLst/>
          </a:prstGeom>
          <a:ln w="27940">
            <a:solidFill>
              <a:srgbClr val="237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56"/>
                </a:solidFill>
                <a:latin typeface="Yu Gothic"/>
              </a:defRPr>
            </a:pPr>
            <a:r>
              <a:t>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A22"/>
                </a:solidFill>
                <a:latin typeface="Yu Gothic"/>
              </a:defRPr>
            </a:pPr>
            <a:r>
              <a:t>毎日の使い方</a:t>
            </a:r>
          </a:p>
        </p:txBody>
      </p:sp>
      <p:pic>
        <p:nvPicPr>
          <p:cNvPr id="4" name="Picture 3" descr="ai-plantgraphy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56032"/>
            <a:ext cx="502920" cy="502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417320"/>
            <a:ext cx="19019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457200" cy="310896"/>
          </a:xfrm>
          <a:prstGeom prst="roundRect">
            <a:avLst/>
          </a:prstGeom>
          <a:solidFill>
            <a:srgbClr val="237D56"/>
          </a:solidFill>
          <a:ln>
            <a:solidFill>
              <a:srgbClr val="23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7627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2A22"/>
                </a:solidFill>
                <a:latin typeface="Yu Gothic"/>
              </a:defRPr>
            </a:pPr>
            <a:r>
              <a:t>追加ページを開く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97480"/>
            <a:ext cx="1481328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97068"/>
                </a:solidFill>
                <a:latin typeface="Yu Gothic"/>
              </a:defRPr>
            </a:pPr>
            <a:r>
              <a:t>スマホのPWAまたはブラウザから開始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24328" y="3017520"/>
            <a:ext cx="182880" cy="0"/>
          </a:xfrm>
          <a:prstGeom prst="line">
            <a:avLst/>
          </a:prstGeom>
          <a:ln w="27940">
            <a:solidFill>
              <a:srgbClr val="237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1417320"/>
            <a:ext cx="19019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08960" y="1691640"/>
            <a:ext cx="457200" cy="310896"/>
          </a:xfrm>
          <a:prstGeom prst="roundRect">
            <a:avLst/>
          </a:prstGeom>
          <a:solidFill>
            <a:srgbClr val="237D56"/>
          </a:solidFill>
          <a:ln>
            <a:solidFill>
              <a:srgbClr val="23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17627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2A22"/>
                </a:solidFill>
                <a:latin typeface="Yu Gothic"/>
              </a:defRPr>
            </a:pPr>
            <a:r>
              <a:t>写真候補を作る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697480"/>
            <a:ext cx="1481328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97068"/>
                </a:solidFill>
                <a:latin typeface="Yu Gothic"/>
              </a:defRPr>
            </a:pPr>
            <a:r>
              <a:t>連続カメラ、通常カメラ、写真から選ぶ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64608" y="3017520"/>
            <a:ext cx="182880" cy="0"/>
          </a:xfrm>
          <a:prstGeom prst="line">
            <a:avLst/>
          </a:prstGeom>
          <a:ln w="27940">
            <a:solidFill>
              <a:srgbClr val="237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1417320"/>
            <a:ext cx="19019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9240" y="1691640"/>
            <a:ext cx="457200" cy="310896"/>
          </a:xfrm>
          <a:prstGeom prst="roundRect">
            <a:avLst/>
          </a:prstGeom>
          <a:solidFill>
            <a:srgbClr val="237D56"/>
          </a:solidFill>
          <a:ln>
            <a:solidFill>
              <a:srgbClr val="23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17627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2A22"/>
                </a:solidFill>
                <a:latin typeface="Yu Gothic"/>
              </a:defRPr>
            </a:pPr>
            <a:r>
              <a:t>1〜3枚を選ぶ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2697480"/>
            <a:ext cx="1481328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97068"/>
                </a:solidFill>
                <a:latin typeface="Yu Gothic"/>
              </a:defRPr>
            </a:pPr>
            <a:r>
              <a:t>候補が多いときは後から追加した3枚を初期選択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04888" y="3017520"/>
            <a:ext cx="182880" cy="0"/>
          </a:xfrm>
          <a:prstGeom prst="line">
            <a:avLst/>
          </a:prstGeom>
          <a:ln w="27940">
            <a:solidFill>
              <a:srgbClr val="237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06640" y="1417320"/>
            <a:ext cx="19019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0" y="1691640"/>
            <a:ext cx="457200" cy="310896"/>
          </a:xfrm>
          <a:prstGeom prst="roundRect">
            <a:avLst/>
          </a:prstGeom>
          <a:solidFill>
            <a:srgbClr val="237D56"/>
          </a:solidFill>
          <a:ln>
            <a:solidFill>
              <a:srgbClr val="23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17627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2A22"/>
                </a:solidFill>
                <a:latin typeface="Yu Gothic"/>
              </a:defRPr>
            </a:pPr>
            <a:r>
              <a:t>送信して待つ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2697480"/>
            <a:ext cx="1481328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97068"/>
                </a:solidFill>
                <a:latin typeface="Yu Gothic"/>
              </a:defRPr>
            </a:pPr>
            <a:r>
              <a:t>画像送信中、種類特定中、解説作成中を表示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45168" y="3017520"/>
            <a:ext cx="182880" cy="0"/>
          </a:xfrm>
          <a:prstGeom prst="line">
            <a:avLst/>
          </a:prstGeom>
          <a:ln w="27940">
            <a:solidFill>
              <a:srgbClr val="237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46920" y="1417320"/>
            <a:ext cx="19019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29800" y="1691640"/>
            <a:ext cx="457200" cy="310896"/>
          </a:xfrm>
          <a:prstGeom prst="roundRect">
            <a:avLst/>
          </a:prstGeom>
          <a:solidFill>
            <a:srgbClr val="237D56"/>
          </a:solidFill>
          <a:ln>
            <a:solidFill>
              <a:srgbClr val="23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088" y="217627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2A22"/>
                </a:solidFill>
                <a:latin typeface="Yu Gothic"/>
              </a:defRPr>
            </a:pPr>
            <a:r>
              <a:t>図鑑で見返す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2697480"/>
            <a:ext cx="1481328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97068"/>
                </a:solidFill>
                <a:latin typeface="Yu Gothic"/>
              </a:defRPr>
            </a:pPr>
            <a:r>
              <a:t>植物ごとに写真と観察履歴を整理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486400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7D56"/>
                </a:solidFill>
                <a:latin typeface="Yu Gothic"/>
              </a:defRPr>
            </a:pPr>
            <a:r>
              <a:t>基本は3枚。近景・葉・全体などを混ぜると同定しやすくなります。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56"/>
                </a:solidFill>
                <a:latin typeface="Yu Gothic"/>
              </a:defRPr>
            </a:pPr>
            <a: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A22"/>
                </a:solidFill>
                <a:latin typeface="Yu Gothic"/>
              </a:defRPr>
            </a:pPr>
            <a:r>
              <a:t>裏側の仕組み</a:t>
            </a:r>
          </a:p>
        </p:txBody>
      </p:sp>
      <p:pic>
        <p:nvPicPr>
          <p:cNvPr id="4" name="Picture 3" descr="ai-plantgraphy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56032"/>
            <a:ext cx="502920" cy="502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508760"/>
            <a:ext cx="17830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673351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2A22"/>
                </a:solidFill>
                <a:latin typeface="Yu Gothic"/>
              </a:defRPr>
            </a:pPr>
            <a:r>
              <a:t>スマホ</a:t>
            </a:r>
            <a:br/>
            <a:r>
              <a:t>Web / PWA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112264"/>
            <a:ext cx="1481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97068"/>
                </a:solidFill>
                <a:latin typeface="Yu Gothic"/>
              </a:defRPr>
            </a:pPr>
            <a:r>
              <a:t>撮影・選択・閲覧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508760"/>
            <a:ext cx="17830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08376" y="1673351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2A22"/>
                </a:solidFill>
                <a:latin typeface="Yu Gothic"/>
              </a:defRPr>
            </a:pPr>
            <a:r>
              <a:t>Tailscale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2112264"/>
            <a:ext cx="1481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97068"/>
                </a:solidFill>
                <a:latin typeface="Yu Gothic"/>
              </a:defRPr>
            </a:pPr>
            <a:r>
              <a:t>外出先から自宅PCへ</a:t>
            </a:r>
            <a:br/>
            <a:r>
              <a:t>プライベート接続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508760"/>
            <a:ext cx="17830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02936" y="1673351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2A22"/>
                </a:solidFill>
                <a:latin typeface="Yu Gothic"/>
              </a:defRPr>
            </a:pPr>
            <a:r>
              <a:t>Windows PC</a:t>
            </a:r>
            <a:br/>
            <a: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2936" y="2112264"/>
            <a:ext cx="1481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97068"/>
                </a:solidFill>
                <a:latin typeface="Yu Gothic"/>
              </a:defRPr>
            </a:pPr>
            <a:r>
              <a:t>受信・軽量化・保存</a:t>
            </a:r>
            <a:br/>
            <a:r>
              <a:t>画面配信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914400"/>
            <a:ext cx="17830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6096" y="1078992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2A22"/>
                </a:solidFill>
                <a:latin typeface="Yu Gothic"/>
              </a:defRPr>
            </a:pPr>
            <a:r>
              <a:t>Gemini CLI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1517904"/>
            <a:ext cx="1481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97068"/>
                </a:solidFill>
                <a:latin typeface="Yu Gothic"/>
              </a:defRPr>
            </a:pPr>
            <a:r>
              <a:t>植物の種類を同定</a:t>
            </a:r>
            <a:br/>
            <a:r>
              <a:t>新規植物の解説生成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71800"/>
            <a:ext cx="17830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3136392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2A22"/>
                </a:solidFill>
                <a:latin typeface="Yu Gothic"/>
              </a:defRPr>
            </a:pPr>
            <a:r>
              <a:t>SQLite + 画像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3575304"/>
            <a:ext cx="1481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97068"/>
                </a:solidFill>
                <a:latin typeface="Yu Gothic"/>
              </a:defRPr>
            </a:pPr>
            <a:r>
              <a:t>観察記録・植物図鑑</a:t>
            </a:r>
            <a:br/>
            <a:r>
              <a:t>写真ファイルを保存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1965960"/>
            <a:ext cx="17830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0696" y="2130552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2A22"/>
                </a:solidFill>
                <a:latin typeface="Yu Gothic"/>
              </a:defRPr>
            </a:pPr>
            <a:r>
              <a:t>Web図鑑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0696" y="2569464"/>
            <a:ext cx="1481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97068"/>
                </a:solidFill>
                <a:latin typeface="Yu Gothic"/>
              </a:defRPr>
            </a:pPr>
            <a:r>
              <a:t>スマホで後から閲覧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68880" y="2057400"/>
            <a:ext cx="347472" cy="0"/>
          </a:xfrm>
          <a:prstGeom prst="line">
            <a:avLst/>
          </a:prstGeom>
          <a:ln w="27940">
            <a:solidFill>
              <a:srgbClr val="237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63440" y="2057400"/>
            <a:ext cx="347472" cy="0"/>
          </a:xfrm>
          <a:prstGeom prst="line">
            <a:avLst/>
          </a:prstGeom>
          <a:ln w="27940">
            <a:solidFill>
              <a:srgbClr val="237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858000" y="1508760"/>
            <a:ext cx="548640" cy="365759"/>
          </a:xfrm>
          <a:prstGeom prst="line">
            <a:avLst/>
          </a:prstGeom>
          <a:ln w="27940">
            <a:solidFill>
              <a:srgbClr val="237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2240280"/>
            <a:ext cx="548640" cy="1280160"/>
          </a:xfrm>
          <a:prstGeom prst="line">
            <a:avLst/>
          </a:prstGeom>
          <a:ln w="27940">
            <a:solidFill>
              <a:srgbClr val="237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281160" y="2606040"/>
            <a:ext cx="685800" cy="914400"/>
          </a:xfrm>
          <a:prstGeom prst="line">
            <a:avLst/>
          </a:prstGeom>
          <a:ln w="27940">
            <a:solidFill>
              <a:srgbClr val="237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04672" y="53492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A22"/>
                </a:solidFill>
                <a:latin typeface="Yu Gothic"/>
              </a:defRPr>
            </a:pPr>
            <a:r>
              <a:t>外部公開サーバーではなく、自宅PCを中心にしたローカルファースト構成。写真とDBはPC側の data フォルダに残ります。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56"/>
                </a:solidFill>
                <a:latin typeface="Yu Gothic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A22"/>
                </a:solidFill>
                <a:latin typeface="Yu Gothic"/>
              </a:defRPr>
            </a:pPr>
            <a:r>
              <a:t>観察記録と図鑑の分け方</a:t>
            </a:r>
          </a:p>
        </p:txBody>
      </p:sp>
      <p:pic>
        <p:nvPicPr>
          <p:cNvPr id="4" name="Picture 3" descr="ai-plantgraphy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56032"/>
            <a:ext cx="502920" cy="502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25880"/>
            <a:ext cx="48006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46520" y="1325880"/>
            <a:ext cx="48006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4128" y="1627632"/>
            <a:ext cx="1097280" cy="310896"/>
          </a:xfrm>
          <a:prstGeom prst="roundRect">
            <a:avLst/>
          </a:prstGeom>
          <a:solidFill>
            <a:srgbClr val="1B6FA3"/>
          </a:solidFill>
          <a:ln>
            <a:solidFill>
              <a:srgbClr val="1B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観察記録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488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2A22"/>
                </a:solidFill>
                <a:latin typeface="Yu Gothic"/>
              </a:defRPr>
            </a:pPr>
            <a:r>
              <a:t>その日に撮った写真セット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840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D2A22"/>
                </a:solidFill>
                <a:latin typeface="Yu Gothic"/>
              </a:defRPr>
            </a:pPr>
            <a:r>
              <a:t>写真1〜3枚</a:t>
            </a:r>
          </a:p>
          <a:p>
            <a:pPr>
              <a:spcAft>
                <a:spcPts val="800"/>
              </a:spcAft>
              <a:defRPr sz="1400">
                <a:solidFill>
                  <a:srgbClr val="0D2A22"/>
                </a:solidFill>
                <a:latin typeface="Yu Gothic"/>
              </a:defRPr>
            </a:pPr>
            <a:r>
              <a:t>撮影日・場所ラベル・メモ</a:t>
            </a:r>
          </a:p>
          <a:p>
            <a:pPr>
              <a:spcAft>
                <a:spcPts val="800"/>
              </a:spcAft>
              <a:defRPr sz="1400">
                <a:solidFill>
                  <a:srgbClr val="0D2A22"/>
                </a:solidFill>
                <a:latin typeface="Yu Gothic"/>
              </a:defRPr>
            </a:pPr>
            <a:r>
              <a:t>同定候補と信頼度</a:t>
            </a:r>
          </a:p>
          <a:p>
            <a:pPr>
              <a:spcAft>
                <a:spcPts val="800"/>
              </a:spcAft>
              <a:defRPr sz="1400">
                <a:solidFill>
                  <a:srgbClr val="0D2A22"/>
                </a:solidFill>
                <a:latin typeface="Yu Gothic"/>
              </a:defRPr>
            </a:pPr>
            <a:r>
              <a:t>不確実な点、再解析結果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48272" y="1627632"/>
            <a:ext cx="777240" cy="310896"/>
          </a:xfrm>
          <a:prstGeom prst="roundRect">
            <a:avLst/>
          </a:prstGeom>
          <a:solidFill>
            <a:srgbClr val="237D56"/>
          </a:solidFill>
          <a:ln>
            <a:solidFill>
              <a:srgbClr val="23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図鑑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21488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2A22"/>
                </a:solidFill>
                <a:latin typeface="Yu Gothic"/>
              </a:defRPr>
            </a:pPr>
            <a:r>
              <a:t>同じ植物をまとめたページ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2743200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D2A22"/>
                </a:solidFill>
                <a:latin typeface="Yu Gothic"/>
              </a:defRPr>
            </a:pPr>
            <a:r>
              <a:t>植物名・学名</a:t>
            </a:r>
          </a:p>
          <a:p>
            <a:pPr>
              <a:spcAft>
                <a:spcPts val="800"/>
              </a:spcAft>
              <a:defRPr sz="1400">
                <a:solidFill>
                  <a:srgbClr val="0D2A22"/>
                </a:solidFill>
                <a:latin typeface="Yu Gothic"/>
              </a:defRPr>
            </a:pPr>
            <a:r>
              <a:t>新しい写真から最大12枚</a:t>
            </a:r>
          </a:p>
          <a:p>
            <a:pPr>
              <a:spcAft>
                <a:spcPts val="800"/>
              </a:spcAft>
              <a:defRPr sz="1400">
                <a:solidFill>
                  <a:srgbClr val="0D2A22"/>
                </a:solidFill>
                <a:latin typeface="Yu Gothic"/>
              </a:defRPr>
            </a:pPr>
            <a:r>
              <a:t>基本的な特徴</a:t>
            </a:r>
          </a:p>
          <a:p>
            <a:pPr>
              <a:spcAft>
                <a:spcPts val="800"/>
              </a:spcAft>
              <a:defRPr sz="1400">
                <a:solidFill>
                  <a:srgbClr val="0D2A22"/>
                </a:solidFill>
                <a:latin typeface="Yu Gothic"/>
              </a:defRPr>
            </a:pPr>
            <a:r>
              <a:t>見た目の特徴と魅力</a:t>
            </a:r>
          </a:p>
          <a:p>
            <a:pPr>
              <a:spcAft>
                <a:spcPts val="800"/>
              </a:spcAft>
              <a:defRPr sz="1400">
                <a:solidFill>
                  <a:srgbClr val="0D2A22"/>
                </a:solidFill>
                <a:latin typeface="Yu Gothic"/>
              </a:defRPr>
            </a:pPr>
            <a:r>
              <a:t>手入れメモ、観察履歴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23560" y="3273552"/>
            <a:ext cx="731520" cy="0"/>
          </a:xfrm>
          <a:prstGeom prst="line">
            <a:avLst/>
          </a:prstGeom>
          <a:ln w="27940">
            <a:solidFill>
              <a:srgbClr val="237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92040" y="36576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37D56"/>
                </a:solidFill>
                <a:latin typeface="Yu Gothic"/>
              </a:defRPr>
            </a:pPr>
            <a:r>
              <a:t>同じ植物名なら自動で統合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56"/>
                </a:solidFill>
                <a:latin typeface="Yu Gothic"/>
              </a:defRPr>
            </a:pPr>
            <a: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A22"/>
                </a:solidFill>
                <a:latin typeface="Yu Gothic"/>
              </a:defRPr>
            </a:pPr>
            <a:r>
              <a:t>初回セットアップの全体像</a:t>
            </a:r>
          </a:p>
        </p:txBody>
      </p:sp>
      <p:pic>
        <p:nvPicPr>
          <p:cNvPr id="4" name="Picture 3" descr="ai-plantgraphy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56032"/>
            <a:ext cx="502920" cy="502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4400" y="1325880"/>
            <a:ext cx="10241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1545336"/>
            <a:ext cx="914400" cy="310896"/>
          </a:xfrm>
          <a:prstGeom prst="roundRect">
            <a:avLst/>
          </a:prstGeom>
          <a:solidFill>
            <a:srgbClr val="237D56"/>
          </a:solidFill>
          <a:ln>
            <a:solidFill>
              <a:srgbClr val="23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81328"/>
            <a:ext cx="8046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D2A22"/>
                </a:solidFill>
                <a:latin typeface="Yu Gothic"/>
              </a:defRPr>
            </a:pPr>
            <a:r>
              <a:t>リポジトリ取得</a:t>
            </a:r>
            <a:br/>
            <a:r>
              <a:t>install_windows.ps1 実行</a:t>
            </a:r>
            <a:br/>
            <a:r>
              <a:t>Gemini CLIをログイン済みにする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41448"/>
            <a:ext cx="10241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2660904"/>
            <a:ext cx="914400" cy="310896"/>
          </a:xfrm>
          <a:prstGeom prst="roundRect">
            <a:avLst/>
          </a:prstGeom>
          <a:solidFill>
            <a:srgbClr val="1B6FA3"/>
          </a:solidFill>
          <a:ln>
            <a:solidFill>
              <a:srgbClr val="1B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接続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596896"/>
            <a:ext cx="8046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D2A22"/>
                </a:solidFill>
                <a:latin typeface="Yu Gothic"/>
              </a:defRPr>
            </a:pPr>
            <a:r>
              <a:t>PCとスマホでTailscaleにログイン</a:t>
            </a:r>
            <a:br/>
            <a:r>
              <a:t>設定ページのQRコードをスマホで開く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557015"/>
            <a:ext cx="10241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3776472"/>
            <a:ext cx="914400" cy="310896"/>
          </a:xfrm>
          <a:prstGeom prst="roundRect">
            <a:avLst/>
          </a:prstGeom>
          <a:solidFill>
            <a:srgbClr val="F6BE55"/>
          </a:solidFill>
          <a:ln>
            <a:solidFill>
              <a:srgbClr val="F6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スマホ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712463"/>
            <a:ext cx="8046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D2A22"/>
                </a:solidFill>
                <a:latin typeface="Yu Gothic"/>
              </a:defRPr>
            </a:pPr>
            <a:r>
              <a:t>ホーム画面に追加</a:t>
            </a:r>
            <a:br/>
            <a:r>
              <a:t>設定ページでアプリパスワードとモデルを確認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72584"/>
            <a:ext cx="10241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4892040"/>
            <a:ext cx="914400" cy="310896"/>
          </a:xfrm>
          <a:prstGeom prst="roundRect">
            <a:avLst/>
          </a:prstGeom>
          <a:solidFill>
            <a:srgbClr val="237D56"/>
          </a:solidFill>
          <a:ln>
            <a:solidFill>
              <a:srgbClr val="23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運用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828032"/>
            <a:ext cx="8046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D2A22"/>
                </a:solidFill>
                <a:latin typeface="Yu Gothic"/>
              </a:defRPr>
            </a:pPr>
            <a:r>
              <a:t>追加ページから撮影</a:t>
            </a:r>
            <a:br/>
            <a:r>
              <a:t>図鑑・観察記録・確認待ちを見返す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97880"/>
            <a:ext cx="10241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2A22"/>
                </a:solidFill>
                <a:latin typeface="Yu Gothic"/>
              </a:defRPr>
            </a:pPr>
            <a:r>
              <a:t>ポイント: ユーザーが入力する「アプリパスワード」はWebアプリの簡易保護用。Gemini CLI側のAPIキーやログインとは別物です。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7D56"/>
                </a:solidFill>
                <a:latin typeface="Yu Gothic"/>
              </a:defRPr>
            </a:pPr>
            <a:r>
              <a:t>PUBLIC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A22"/>
                </a:solidFill>
                <a:latin typeface="Yu Gothic"/>
              </a:defRPr>
            </a:pPr>
            <a:r>
              <a:t>OSSとして伝えたいこと</a:t>
            </a:r>
          </a:p>
        </p:txBody>
      </p:sp>
      <p:pic>
        <p:nvPicPr>
          <p:cNvPr id="4" name="Picture 3" descr="ai-plantgraphy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56032"/>
            <a:ext cx="502920" cy="502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98448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34840" y="1298448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298448"/>
            <a:ext cx="3154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600200"/>
            <a:ext cx="777240" cy="310896"/>
          </a:xfrm>
          <a:prstGeom prst="roundRect">
            <a:avLst/>
          </a:prstGeom>
          <a:solidFill>
            <a:srgbClr val="237D56"/>
          </a:solidFill>
          <a:ln>
            <a:solidFill>
              <a:srgbClr val="23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安心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2140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2A22"/>
                </a:solidFill>
                <a:latin typeface="Yu Gothic"/>
              </a:defRPr>
            </a:pPr>
            <a:r>
              <a:t>写真とDBは自宅PCに保存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697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7068"/>
                </a:solidFill>
                <a:latin typeface="Yu Gothic"/>
              </a:defRPr>
            </a:pPr>
            <a:r>
              <a:t>クラウドに植物写真を集約しない設計。外出先接続はTailscaleで閉じた経路を使います。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600200"/>
            <a:ext cx="1188720" cy="310896"/>
          </a:xfrm>
          <a:prstGeom prst="roundRect">
            <a:avLst/>
          </a:prstGeom>
          <a:solidFill>
            <a:srgbClr val="1B6FA3"/>
          </a:solidFill>
          <a:ln>
            <a:solidFill>
              <a:srgbClr val="1B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わかりやすさ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12140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2A22"/>
                </a:solidFill>
                <a:latin typeface="Yu Gothic"/>
              </a:defRPr>
            </a:pPr>
            <a:r>
              <a:t>非エンジニア向け導線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97480"/>
            <a:ext cx="2697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7068"/>
                </a:solidFill>
                <a:latin typeface="Yu Gothic"/>
              </a:defRPr>
            </a:pPr>
            <a:r>
              <a:t>デスクトップショートカット、設定ページ、QRコード、診断画面で迷う場所を減らします。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600200"/>
            <a:ext cx="777240" cy="310896"/>
          </a:xfrm>
          <a:prstGeom prst="roundRect">
            <a:avLst/>
          </a:prstGeom>
          <a:solidFill>
            <a:srgbClr val="F6BE55"/>
          </a:solidFill>
          <a:ln>
            <a:solidFill>
              <a:srgbClr val="F6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拡張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2140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2A22"/>
                </a:solidFill>
                <a:latin typeface="Yu Gothic"/>
              </a:defRPr>
            </a:pPr>
            <a:r>
              <a:t>Web/PWAから育てる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97480"/>
            <a:ext cx="2377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7068"/>
                </a:solidFill>
                <a:latin typeface="Yu Gothic"/>
              </a:defRPr>
            </a:pPr>
            <a:r>
              <a:t>同じAPIを使えば、将来Androidネイティブアプリや別UIも追加できます。</a:t>
            </a:r>
          </a:p>
        </p:txBody>
      </p:sp>
      <p:pic>
        <p:nvPicPr>
          <p:cNvPr id="17" name="Picture 16" descr="ai-plantgraphy-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572000"/>
            <a:ext cx="9966960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